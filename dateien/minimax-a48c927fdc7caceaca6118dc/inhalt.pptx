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gelsenkirchen/-/blob/1597af4460057077d5c65b9dad1e963957738acd/_posts/2026-10-22-holzanbau-kostenstruktur-und-einflussfaktoren.md" TargetMode="External"/><Relationship Id="rId3" Type="http://schemas.openxmlformats.org/officeDocument/2006/relationships/hyperlink" Target="https://holzundhaus.github.io/1aholzbaugelsenkirchen/dateien/minimax-a48c927fdc7caceaca6118d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Holzanbau: Kostenstruktur verstehen und eigene Aufwände einschätzen · Erklärende Präsentation</a:t>
            </a:r>
          </a:p>
        </p:txBody>
      </p:sp>
      <p:sp>
        <p:nvSpPr>
          <p:cNvPr id="3" name="Content Placeholder 2"/>
          <p:cNvSpPr>
            <a:spLocks noGrp="1"/>
          </p:cNvSpPr>
          <p:nvPr>
            <p:ph idx="1"/>
          </p:nvPr>
        </p:nvSpPr>
        <p:spPr/>
        <p:txBody>
          <a:bodyPr/>
          <a:lstStyle/>
          <a:p>
            <a:r>
              <a:t>Überblick: Ein Holzanbau lässt sich nicht allein über eine pauschale Quadratmeterangabe bewerten. Der tatsächliche Aufwand hängt stark davon ab, wie der neue Bereich an den Bestand angeschlossen wird, welche technischen Anlagen betroffen sind und wie umfangreich die Planung vorbereitet ist. Wer die einzelnen Kostenblöcke kennt, kann seine Erwartungen besser einschätzen und Angebote sinnvoller vergleichen. Der folgende Überblick verbindet die wichtigsten Kostenbereiche mit den Punkten, die bei der Vorbereitung eines Projekts besonders früh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Quadratmeterangabe zu kurz greift</a:t>
            </a:r>
          </a:p>
        </p:txBody>
      </p:sp>
      <p:sp>
        <p:nvSpPr>
          <p:cNvPr id="3" name="Content Placeholder 2"/>
          <p:cNvSpPr>
            <a:spLocks noGrp="1"/>
          </p:cNvSpPr>
          <p:nvPr>
            <p:ph idx="1"/>
          </p:nvPr>
        </p:nvSpPr>
        <p:spPr/>
        <p:txBody>
          <a:bodyPr/>
          <a:lstStyle/>
          <a:p>
            <a:pPr>
              <a:defRPr sz="1800"/>
            </a:pPr>
            <a:r>
              <a:t>Bei einem Anbau oder einer Aufstockung verändert sich der vorhandene Grundriss, während Anschlüsse an das bestehende Gebäude zusätzlichen Planungs- und Ausführungsaufwand verursachen. Eine Aufstockung stellt außerdem höhere Anforderungen an das vorhandene Tragwerk. Deshalb kann eine einzelne Summe pro Quadratmeter das Vorhaben nur bedingt abbilden. Aussagekräftiger ist eine Gliederung nach Bestandsaufnahme, Tragwerk, Haustechnik, Ausbau, Genehmigung und den Übergängen zwischen alt und neu.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Kostenblöcke im Überblick</a:t>
            </a:r>
          </a:p>
        </p:txBody>
      </p:sp>
      <p:sp>
        <p:nvSpPr>
          <p:cNvPr id="3" name="Content Placeholder 2"/>
          <p:cNvSpPr>
            <a:spLocks noGrp="1"/>
          </p:cNvSpPr>
          <p:nvPr>
            <p:ph idx="1"/>
          </p:nvPr>
        </p:nvSpPr>
        <p:spPr/>
        <p:txBody>
          <a:bodyPr/>
          <a:lstStyle/>
          <a:p>
            <a:pPr>
              <a:defRPr sz="1800"/>
            </a:pPr>
            <a:r>
              <a:t>Vor der Planung steht die Bestandsaufnahme. Verfügbare Pläne, sichtbare Schäden, Anschlusshöhen sowie Angaben zu Material und Konstruktion bilden die Grundlage für die weiteren Entscheidungen. Bei Anbauten ist die standsichere Verbindung der neuen Bauteile mit dem Bestand zu klären; bei Aufstockungen muss zusätzlich die Tragfähigkeit der vorhandenen Struktur berücksichtigt werden. Hinzu kommen Strom, Heizung und gegebenenfalls Wasser, die in den neuen Bereich geführt werden müssen. Auch die vorhandene Anlage und ihre Kapazität können dabei eine Rolle spielen. Fenster, Türen, Bodenbeläge sowie Wand- und Deckenoberflächen bestimmen schließlich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Kostenblöcke im Überblick</a:t>
            </a:r>
          </a:p>
        </p:txBody>
      </p:sp>
      <p:sp>
        <p:nvSpPr>
          <p:cNvPr id="3" name="Content Placeholder 2"/>
          <p:cNvSpPr>
            <a:spLocks noGrp="1"/>
          </p:cNvSpPr>
          <p:nvPr>
            <p:ph idx="1"/>
          </p:nvPr>
        </p:nvSpPr>
        <p:spPr/>
        <p:txBody>
          <a:bodyPr/>
          <a:lstStyle/>
          <a:p>
            <a:pPr>
              <a:defRPr sz="1800"/>
            </a:pPr>
            <a:r>
              <a:t>Komfort und Erscheinungsbild.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Genehmigung und Anschlusspunkte</a:t>
            </a:r>
          </a:p>
        </p:txBody>
      </p:sp>
      <p:sp>
        <p:nvSpPr>
          <p:cNvPr id="3" name="Content Placeholder 2"/>
          <p:cNvSpPr>
            <a:spLocks noGrp="1"/>
          </p:cNvSpPr>
          <p:nvPr>
            <p:ph idx="1"/>
          </p:nvPr>
        </p:nvSpPr>
        <p:spPr/>
        <p:txBody>
          <a:bodyPr/>
          <a:lstStyle/>
          <a:p>
            <a:pPr>
              <a:defRPr sz="1800"/>
            </a:pPr>
            <a:r>
              <a:t>Planungs- und Verfahrenskosten hängen vom Umfang des jeweiligen Vorhabens ab. Ob eine Baugenehmigung erforderlich ist, muss anhand des konkreten Projekts beurteilt werden. Für eine erste Orientierung bietet die Bauaubsicht der Stadt Gelsenkirchen Informationen zum Thema. Besonders aufwendig sind häufig die Übergänge zwischen Bestand und Neubau: am Boden müssen Höhenlage, Bodengutachten und Gründung abgestimmt werden; am Wandanschluss spielen Luftdichtheit und Wärmebrücken eine zentrale Rolle; am Dach müssen Flächen und Entwässerung berücksichtigt werden. Bei einer Aufstockung ist außerdem früh zu klären, wie das neue Geschoss erschlossen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Genehmigung und Anschlusspunkte</a:t>
            </a:r>
          </a:p>
        </p:txBody>
      </p:sp>
      <p:sp>
        <p:nvSpPr>
          <p:cNvPr id="3" name="Content Placeholder 2"/>
          <p:cNvSpPr>
            <a:spLocks noGrp="1"/>
          </p:cNvSpPr>
          <p:nvPr>
            <p:ph idx="1"/>
          </p:nvPr>
        </p:nvSpPr>
        <p:spPr/>
        <p:txBody>
          <a:bodyPr/>
          <a:lstStyle/>
          <a:p>
            <a:pPr>
              <a:defRPr sz="1800"/>
            </a:pP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eigene Vorhaben belastbar beschreiben</a:t>
            </a:r>
          </a:p>
        </p:txBody>
      </p:sp>
      <p:sp>
        <p:nvSpPr>
          <p:cNvPr id="3" name="Content Placeholder 2"/>
          <p:cNvSpPr>
            <a:spLocks noGrp="1"/>
          </p:cNvSpPr>
          <p:nvPr>
            <p:ph idx="1"/>
          </p:nvPr>
        </p:nvSpPr>
        <p:spPr/>
        <p:txBody>
          <a:bodyPr/>
          <a:lstStyle/>
          <a:p>
            <a:pPr>
              <a:defRPr sz="1800"/>
            </a:pPr>
            <a:r>
              <a:t>Noch vor der Angebotsanfrage sollten die wichtigsten Eckdaten schriftlich zusammengestellt werden. Dazu gehören ungefähre Maße, die gewünschte Nutzung, der Standort, der aktuelle Planungsstand sowie bekannte Schäden oder besondere Bedingungen am Gebäude. Eine vollständige Projektbeschreibung erleichtert den Vergleich der eingehenden Angebote, weil diese dann denselben Leistungsumfang betreffen können. Wichtig ist außerdem die klare Unterscheidung zwischen einer Anfrage und einem Auftrag: Das Absenden einer Anfrage bestätigt weder eine Ausführung noch einen Termin oder einen Preis, sondern leitet die weitere Klärung 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anhand des Leistungsumfangs vergleichen</a:t>
            </a:r>
          </a:p>
        </p:txBody>
      </p:sp>
      <p:sp>
        <p:nvSpPr>
          <p:cNvPr id="3" name="Content Placeholder 2"/>
          <p:cNvSpPr>
            <a:spLocks noGrp="1"/>
          </p:cNvSpPr>
          <p:nvPr>
            <p:ph idx="1"/>
          </p:nvPr>
        </p:nvSpPr>
        <p:spPr/>
        <p:txBody>
          <a:bodyPr/>
          <a:lstStyle/>
          <a:p>
            <a:pPr>
              <a:defRPr sz="1800"/>
            </a:pPr>
            <a:r>
              <a:t>Pauschale Tarife sind ohne genaue Leistungsbeschreibung wenig aussagekräftig. Beim Vergleich sollte deshalb geprüft werden, welche Vorarbeiten, Anschlüsse, Oberflächen, Planungsleistungen und Entsorgungsarbeiten jeweils enthalten sind. Auch die Frage, ob Fenster, Türen, Bodenbeläge und bestimmte Ausbauleistungen im Angebot enthalten sind oder separat beauftragt werden, gehört in diese Prüfung. Nur Angebote mit einem vergleichbaren Umfang lassen sich sinnvoll gegenüberstellen. Wer Tragfähigkeit, Haustechnik, baurechtliche Fragen und Anschlüsse frühzeitig klärt, reduziert das Risiko, dass während der Bauphase unerwartete Punkte auftauchen und 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anhand des Leistungsumfangs vergleichen</a:t>
            </a:r>
          </a:p>
        </p:txBody>
      </p:sp>
      <p:sp>
        <p:nvSpPr>
          <p:cNvPr id="3" name="Content Placeholder 2"/>
          <p:cNvSpPr>
            <a:spLocks noGrp="1"/>
          </p:cNvSpPr>
          <p:nvPr>
            <p:ph idx="1"/>
          </p:nvPr>
        </p:nvSpPr>
        <p:spPr/>
        <p:txBody>
          <a:bodyPr/>
          <a:lstStyle/>
          <a:p>
            <a:pPr>
              <a:defRPr sz="1800"/>
            </a:pPr>
            <a:r>
              <a:t>usätzliche Abstimmungen erforderlich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Holzanbau: Kostenstruktur verstehen und eigene Aufwände einschätzen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